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11535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84B"/>
                </a:solidFill>
                <a:latin typeface="Arial"/>
              </a:rPr>
              <a:t>TOURISM, CULTURE &amp; LOCAL ECONOMY  — 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911535" cy="1371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1A6B3C"/>
                </a:solidFill>
                <a:latin typeface="Arial"/>
              </a:rPr>
              <a:t>AgriSchema-MY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9692640" cy="10058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31F"/>
                </a:solidFill>
                <a:latin typeface="Arial"/>
              </a:rPr>
              <a:t>Trustworthy knowledge exchange that lifts Malaysia's harvest to export grade.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26280"/>
            <a:ext cx="3840480" cy="27432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911535" cy="11887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F6B63"/>
                </a:solidFill>
                <a:latin typeface="Arial"/>
              </a:rPr>
              <a:t>TEAM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A6B3C"/>
                </a:solidFill>
                <a:latin typeface="Arial"/>
              </a:rPr>
              <a:t>Tan Kuan Yu</a:t>
            </a:r>
            <a:r>
              <a:rPr sz="1300" b="0">
                <a:solidFill>
                  <a:srgbClr val="1C231F"/>
                </a:solidFill>
                <a:latin typeface="Arial"/>
              </a:rPr>
              <a:t>  ·  Lead / Data &amp; Pipeline</a:t>
            </a:r>
          </a:p>
          <a:p>
            <a:pPr>
              <a:lnSpc>
                <a:spcPct val="120000"/>
              </a:lnSpc>
            </a:pPr>
            <a:r>
              <a:rPr sz="1400" b="1">
                <a:solidFill>
                  <a:srgbClr val="1A6B3C"/>
                </a:solidFill>
                <a:latin typeface="Arial"/>
              </a:rPr>
              <a:t>Lee Hui Ying</a:t>
            </a:r>
            <a:r>
              <a:rPr sz="1300" b="0">
                <a:solidFill>
                  <a:srgbClr val="1C231F"/>
                </a:solidFill>
                <a:latin typeface="Arial"/>
              </a:rPr>
              <a:t>  ·  Analytics Dashboard, Image ML</a:t>
            </a:r>
          </a:p>
          <a:p>
            <a:pPr>
              <a:lnSpc>
                <a:spcPct val="120000"/>
              </a:lnSpc>
            </a:pPr>
            <a:r>
              <a:rPr sz="1400" b="1">
                <a:solidFill>
                  <a:srgbClr val="1A6B3C"/>
                </a:solidFill>
                <a:latin typeface="Arial"/>
              </a:rPr>
              <a:t>Tan Chi Kien</a:t>
            </a:r>
            <a:r>
              <a:rPr sz="1300" b="0">
                <a:solidFill>
                  <a:srgbClr val="1C231F"/>
                </a:solidFill>
                <a:latin typeface="Arial"/>
              </a:rPr>
              <a:t>  ·  Agronomy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19088"/>
            <a:ext cx="11094415" cy="2011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AgriSchema-MY  ·  Trustworthy knowledge exchange for export-grade harvests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1089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4B"/>
                </a:solidFill>
                <a:latin typeface="Arial"/>
              </a:rPr>
              <a:t>MALAYSIA'S 2026 AGRICULTURE VISION &amp; LOCAL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102412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6B3C"/>
                </a:solidFill>
                <a:latin typeface="Arial"/>
              </a:rPr>
              <a:t>Malaysia is betting big on agrofood — yet still imports far more food than it exports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3527450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46304" rIns="10972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1A6B3C"/>
                </a:solidFill>
                <a:latin typeface="Arial"/>
              </a:rPr>
              <a:t>RM181.4 bil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C231F"/>
                </a:solidFill>
                <a:latin typeface="Arial"/>
              </a:rPr>
              <a:t>Agrofood sector value, 2023 (+4.3% YoY)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63"/>
                </a:solidFill>
                <a:latin typeface="Arial"/>
              </a:rPr>
              <a:t>KPKM,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82296" cy="1627632"/>
          </a:xfrm>
          <a:prstGeom prst="rect">
            <a:avLst/>
          </a:prstGeom>
          <a:solidFill>
            <a:srgbClr val="2D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2122" y="1874519"/>
            <a:ext cx="3527450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46304" rIns="10972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1A6B3C"/>
                </a:solidFill>
                <a:latin typeface="Arial"/>
              </a:rPr>
              <a:t>~7.8% of GDP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C231F"/>
                </a:solidFill>
                <a:latin typeface="Arial"/>
              </a:rPr>
              <a:t>Agriculture's share of national GDP, 2023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63"/>
                </a:solidFill>
                <a:latin typeface="Arial"/>
              </a:rPr>
              <a:t>DOSM, 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2122" y="1874519"/>
            <a:ext cx="82296" cy="1627632"/>
          </a:xfrm>
          <a:prstGeom prst="rect">
            <a:avLst/>
          </a:prstGeom>
          <a:solidFill>
            <a:srgbClr val="2D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5604" y="1874519"/>
            <a:ext cx="3527450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46304" rIns="10972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1A6B3C"/>
                </a:solidFill>
                <a:latin typeface="Arial"/>
              </a:rPr>
              <a:t>RM78.8 bil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C231F"/>
                </a:solidFill>
                <a:latin typeface="Arial"/>
              </a:rPr>
              <a:t>National food import bill, 2023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63"/>
                </a:solidFill>
                <a:latin typeface="Arial"/>
              </a:rPr>
              <a:t>DOSM, 2023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5604" y="1874519"/>
            <a:ext cx="82296" cy="1627632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721608"/>
            <a:ext cx="3527450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46304" rIns="10972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1A6B3C"/>
                </a:solidFill>
                <a:latin typeface="Arial"/>
              </a:rPr>
              <a:t>RM46.5 bil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C231F"/>
                </a:solidFill>
                <a:latin typeface="Arial"/>
              </a:rPr>
              <a:t>Food exports, 2023 → ~RM32 bil trade deficit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63"/>
                </a:solidFill>
                <a:latin typeface="Arial"/>
              </a:rPr>
              <a:t>DOSM, 2023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21608"/>
            <a:ext cx="82296" cy="1627632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2122" y="3721608"/>
            <a:ext cx="3527450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46304" rIns="10972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1A6B3C"/>
                </a:solidFill>
                <a:latin typeface="Arial"/>
              </a:rPr>
              <a:t>56.2%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C231F"/>
                </a:solidFill>
                <a:latin typeface="Arial"/>
              </a:rPr>
              <a:t>Rice self-sufficiency ratio, 2023 (new basis)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63"/>
                </a:solidFill>
                <a:latin typeface="Arial"/>
              </a:rPr>
              <a:t>KPKM, 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2122" y="3721608"/>
            <a:ext cx="82296" cy="1627632"/>
          </a:xfrm>
          <a:prstGeom prst="rect">
            <a:avLst/>
          </a:prstGeom>
          <a:solidFill>
            <a:srgbClr val="2D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5604" y="3721608"/>
            <a:ext cx="3527450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tIns="146304" rIns="109728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1A6B3C"/>
                </a:solidFill>
                <a:latin typeface="Arial"/>
              </a:rPr>
              <a:t>6 · 21 · 77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C231F"/>
                </a:solidFill>
                <a:latin typeface="Arial"/>
              </a:rPr>
              <a:t>NAP 2.0 objectives · strategies · action plans, 2021–30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F6B63"/>
                </a:solidFill>
                <a:latin typeface="Arial"/>
              </a:rPr>
              <a:t>NAP 2.0, KPKM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5604" y="3721608"/>
            <a:ext cx="82296" cy="1627632"/>
          </a:xfrm>
          <a:prstGeom prst="rect">
            <a:avLst/>
          </a:prstGeom>
          <a:solidFill>
            <a:srgbClr val="2D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053328"/>
            <a:ext cx="11094415" cy="329184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F6B63"/>
                </a:solidFill>
                <a:latin typeface="Arial"/>
              </a:rPr>
              <a:t>Sources: KPKM (Ministry of Agriculture &amp; Food Security) 2023/2024 · Department of Statistics Malaysia (DOSM) 2023 · National Agrofood Policy 2.0 (NAP 2.0, 2021–2030), KPKM/FAOLEX.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19088"/>
            <a:ext cx="11094415" cy="2011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AgriSchema-MY  ·  Trustworthy knowledge exchange for export-grade harvests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1089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4B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102412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6B3C"/>
                </a:solidFill>
                <a:latin typeface="Arial"/>
              </a:rPr>
              <a:t>Smallholders get pesticide dosages from generic AI — shown as “verified” when they are only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6035040" cy="3108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1">
                <a:solidFill>
                  <a:srgbClr val="E8B84B"/>
                </a:solidFill>
                <a:latin typeface="Arial"/>
              </a:rPr>
              <a:t>▪  </a:t>
            </a:r>
            <a:r>
              <a:rPr sz="1300" b="1">
                <a:solidFill>
                  <a:srgbClr val="1A6B3C"/>
                </a:solidFill>
                <a:latin typeface="Arial"/>
              </a:rPr>
              <a:t>Smallholders and extension officers </a:t>
            </a:r>
            <a:r>
              <a:rPr sz="1300">
                <a:solidFill>
                  <a:srgbClr val="1C231F"/>
                </a:solidFill>
                <a:latin typeface="Arial"/>
              </a:rPr>
              <a:t>ask ChatGPT, Google or forums how to treat a crop disease.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1">
                <a:solidFill>
                  <a:srgbClr val="E8B84B"/>
                </a:solidFill>
                <a:latin typeface="Arial"/>
              </a:rPr>
              <a:t>▪  </a:t>
            </a:r>
            <a:r>
              <a:rPr sz="1300" b="1">
                <a:solidFill>
                  <a:srgbClr val="1A6B3C"/>
                </a:solidFill>
                <a:latin typeface="Arial"/>
              </a:rPr>
              <a:t>Pesticide dosages </a:t>
            </a:r>
            <a:r>
              <a:rPr sz="1300">
                <a:solidFill>
                  <a:srgbClr val="1C231F"/>
                </a:solidFill>
                <a:latin typeface="Arial"/>
              </a:rPr>
              <a:t>and pre-harvest intervals (PHI) are presented as fact — but are unverified guesses.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1">
                <a:solidFill>
                  <a:srgbClr val="E8B84B"/>
                </a:solidFill>
                <a:latin typeface="Arial"/>
              </a:rPr>
              <a:t>▪  </a:t>
            </a:r>
            <a:r>
              <a:rPr sz="1300" b="1">
                <a:solidFill>
                  <a:srgbClr val="1A6B3C"/>
                </a:solidFill>
                <a:latin typeface="Arial"/>
              </a:rPr>
              <a:t>Wrong dose or PHI → </a:t>
            </a:r>
            <a:r>
              <a:rPr sz="1300">
                <a:solidFill>
                  <a:srgbClr val="1C231F"/>
                </a:solidFill>
                <a:latin typeface="Arial"/>
              </a:rPr>
              <a:t>illegal MRL residues → rejected or destroyed crops → farmer-safety and legal risk.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E8B84B"/>
                </a:solidFill>
                <a:latin typeface="Arial"/>
              </a:rPr>
              <a:t>▪  </a:t>
            </a:r>
            <a:r>
              <a:rPr sz="1300" b="1">
                <a:solidFill>
                  <a:srgbClr val="1A6B3C"/>
                </a:solidFill>
                <a:latin typeface="Arial"/>
              </a:rPr>
              <a:t>The farmer has </a:t>
            </a:r>
            <a:r>
              <a:rPr sz="1300">
                <a:solidFill>
                  <a:srgbClr val="1C231F"/>
                </a:solidFill>
                <a:latin typeface="Arial"/>
              </a:rPr>
              <a:t>no way to tell a verified label from a confident guess.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920240"/>
            <a:ext cx="4736592" cy="3566160"/>
          </a:xfrm>
          <a:prstGeom prst="roundRect">
            <a:avLst>
              <a:gd name="adj" fmla="val 6000"/>
            </a:avLst>
          </a:prstGeom>
          <a:solidFill>
            <a:srgbClr val="FBF3DD"/>
          </a:solidFill>
          <a:ln w="127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2121408"/>
            <a:ext cx="438912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A6B3C"/>
                </a:solidFill>
                <a:latin typeface="Arial"/>
              </a:rPr>
              <a:t>WHO WE SERVE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2651760"/>
            <a:ext cx="1298448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231F"/>
                </a:solidFill>
                <a:latin typeface="Arial"/>
              </a:rPr>
              <a:t>Padi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13064" y="2651760"/>
            <a:ext cx="1298448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231F"/>
                </a:solidFill>
                <a:latin typeface="Arial"/>
              </a:rPr>
              <a:t>Chilli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39528" y="2651760"/>
            <a:ext cx="1298448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231F"/>
                </a:solidFill>
                <a:latin typeface="Arial"/>
              </a:rPr>
              <a:t>Tomato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3236976"/>
            <a:ext cx="1298448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231F"/>
                </a:solidFill>
                <a:latin typeface="Arial"/>
              </a:rPr>
              <a:t>Banana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13064" y="3236976"/>
            <a:ext cx="1298448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231F"/>
                </a:solidFill>
                <a:latin typeface="Arial"/>
              </a:rPr>
              <a:t>Durian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39528" y="3236976"/>
            <a:ext cx="1298448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231F"/>
                </a:solidFill>
                <a:latin typeface="Arial"/>
              </a:rPr>
              <a:t>Cocoa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3822191"/>
            <a:ext cx="1298448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C231F"/>
                </a:solidFill>
                <a:latin typeface="Arial"/>
              </a:rPr>
              <a:t>Oil palm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526280"/>
            <a:ext cx="4389120" cy="9144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C231F"/>
                </a:solidFill>
                <a:latin typeface="Arial"/>
              </a:rPr>
              <a:t>… smallholder farmers of these crops,</a:t>
            </a:r>
          </a:p>
          <a:p>
            <a:pPr>
              <a:lnSpc>
                <a:spcPct val="110000"/>
              </a:lnSpc>
            </a:pPr>
            <a:r>
              <a:rPr sz="1250" b="0">
                <a:solidFill>
                  <a:srgbClr val="1C231F"/>
                </a:solidFill>
                <a:latin typeface="Arial"/>
              </a:rPr>
              <a:t>plus </a:t>
            </a:r>
            <a:r>
              <a:rPr sz="1250" b="1">
                <a:solidFill>
                  <a:srgbClr val="1A6B3C"/>
                </a:solidFill>
                <a:latin typeface="Arial"/>
              </a:rPr>
              <a:t>agricultural extension officers</a:t>
            </a:r>
            <a:r>
              <a:rPr sz="1250" b="0">
                <a:solidFill>
                  <a:srgbClr val="1C231F"/>
                </a:solidFill>
                <a:latin typeface="Arial"/>
              </a:rPr>
              <a:t> who advise them.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19088"/>
            <a:ext cx="11094415" cy="2011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AgriSchema-MY  ·  Trustworthy knowledge exchange for export-grade harvests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1089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4B"/>
                </a:solidFill>
                <a:latin typeface="Arial"/>
              </a:rPr>
              <a:t>OUR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102412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6B3C"/>
                </a:solidFill>
                <a:latin typeface="Arial"/>
              </a:rPr>
              <a:t>Enable trustworthy knowledge exchange between farmers — so quality, and the local economy, rise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094415" cy="1051560"/>
          </a:xfrm>
          <a:prstGeom prst="roundRect">
            <a:avLst>
              <a:gd name="adj" fmla="val 6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Trustworthy knowledge exchange between farmers  →  better crop quality  →  stronger local economy &amp; agri-exports.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46120"/>
            <a:ext cx="351525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5603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A6B3C"/>
                </a:solidFill>
                <a:latin typeface="Arial"/>
              </a:rPr>
              <a:t>Trustworthy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31F"/>
                </a:solidFill>
                <a:latin typeface="Arial"/>
              </a:rPr>
              <a:t>Every claim is labelled verified vs estimate; a fail-closed review gate means REJECT never ships to a farmer.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46120"/>
            <a:ext cx="3515258" cy="10058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38218" y="3246120"/>
            <a:ext cx="351525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5603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A6B3C"/>
                </a:solidFill>
                <a:latin typeface="Arial"/>
              </a:rPr>
              <a:t>Exchange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31F"/>
                </a:solidFill>
                <a:latin typeface="Arial"/>
              </a:rPr>
              <a:t>Farmers and extension officers share what works — an AI knowledge base plus a human Q&amp;A community, both grounded.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3246120"/>
            <a:ext cx="3515258" cy="10058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7796" y="3246120"/>
            <a:ext cx="351525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56032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A6B3C"/>
                </a:solidFill>
                <a:latin typeface="Arial"/>
              </a:rPr>
              <a:t>Local economy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31F"/>
                </a:solidFill>
                <a:latin typeface="Arial"/>
              </a:rPr>
              <a:t>Higher, safer quality lifts rural income and export earnings — the Local Economy track, made concrete.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7796" y="3246120"/>
            <a:ext cx="3515258" cy="100584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4415" cy="2011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AgriSchema-MY  ·  Trustworthy knowledge exchange for export-grade harvests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1089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4B"/>
                </a:solidFill>
                <a:latin typeface="Arial"/>
              </a:rPr>
              <a:t>HOW WE CAPTURE KNOWLEDGE — THE RESEARCH &amp; SCRAPER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102412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6B3C"/>
                </a:solidFill>
                <a:latin typeface="Arial"/>
              </a:rPr>
              <a:t>Automated agents turn authoritative MARDI sources into structured, machine-readable disease entries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3484778" cy="2103120"/>
          </a:xfrm>
          <a:prstGeom prst="roundRect">
            <a:avLst>
              <a:gd name="adj" fmla="val 7000"/>
            </a:avLst>
          </a:prstGeom>
          <a:solidFill>
            <a:srgbClr val="E9F1EC"/>
          </a:solidFill>
          <a:ln w="12700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1945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6B3C"/>
                </a:solidFill>
                <a:latin typeface="Arial"/>
              </a:rPr>
              <a:t>1  MARDI scraper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31F"/>
                </a:solidFill>
                <a:latin typeface="Arial"/>
              </a:rPr>
              <a:t>Crawls MARDI bulletin pages and downloads source PDFs of crop-disease guidance.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69994" y="2788920"/>
            <a:ext cx="246887" cy="457200"/>
          </a:xfrm>
          <a:prstGeom prst="rightArrow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53458" y="1965960"/>
            <a:ext cx="3484778" cy="2103120"/>
          </a:xfrm>
          <a:prstGeom prst="roundRect">
            <a:avLst>
              <a:gd name="adj" fmla="val 7000"/>
            </a:avLst>
          </a:prstGeom>
          <a:solidFill>
            <a:srgbClr val="E9F1EC"/>
          </a:solidFill>
          <a:ln w="12700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1945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6B3C"/>
                </a:solidFill>
                <a:latin typeface="Arial"/>
              </a:rPr>
              <a:t>2  Seed generator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31F"/>
                </a:solidFill>
                <a:latin typeface="Arial"/>
              </a:rPr>
              <a:t>Structures findings into consistent YAML disease entries (crop, pathogen, treatments).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74812" y="2788920"/>
            <a:ext cx="246887" cy="457200"/>
          </a:xfrm>
          <a:prstGeom prst="rightArrow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58276" y="1965960"/>
            <a:ext cx="3484778" cy="2103120"/>
          </a:xfrm>
          <a:prstGeom prst="roundRect">
            <a:avLst>
              <a:gd name="adj" fmla="val 7000"/>
            </a:avLst>
          </a:prstGeom>
          <a:solidFill>
            <a:srgbClr val="E9F1EC"/>
          </a:solidFill>
          <a:ln w="12700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219456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6B3C"/>
                </a:solidFill>
                <a:latin typeface="Arial"/>
              </a:rPr>
              <a:t>3  PDF extractor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31F"/>
                </a:solidFill>
                <a:latin typeface="Arial"/>
              </a:rPr>
              <a:t>Parses downloaded PDFs → extracts text → fills structured fields per entry.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11094415" cy="1234440"/>
          </a:xfrm>
          <a:prstGeom prst="roundRect">
            <a:avLst>
              <a:gd name="adj" fmla="val 5000"/>
            </a:avLst>
          </a:prstGeom>
          <a:solidFill>
            <a:srgbClr val="FBF3DD"/>
          </a:solidFill>
          <a:ln w="127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C231F"/>
                </a:solidFill>
                <a:latin typeface="Arial"/>
              </a:rPr>
              <a:t/>
            </a:r>
            <a:r>
              <a:rPr sz="1350" b="1">
                <a:solidFill>
                  <a:srgbClr val="1A6B3C"/>
                </a:solidFill>
                <a:latin typeface="Arial"/>
              </a:rPr>
              <a:t>Vendor-neutral engine:  </a:t>
            </a:r>
            <a:r>
              <a:rPr sz="1300" b="0">
                <a:solidFill>
                  <a:srgbClr val="1C231F"/>
                </a:solidFill>
                <a:latin typeface="Arial"/>
              </a:rPr>
              <a:t>generation and review agents run via an </a:t>
            </a:r>
            <a:r>
              <a:rPr sz="1300" b="1">
                <a:solidFill>
                  <a:srgbClr val="1A6B3C"/>
                </a:solidFill>
                <a:latin typeface="Arial"/>
              </a:rPr>
              <a:t>agentic coding CLI + a swappable LLM provider</a:t>
            </a:r>
            <a:r>
              <a:rPr sz="1300" b="0">
                <a:solidFill>
                  <a:srgbClr val="1C231F"/>
                </a:solidFill>
                <a:latin typeface="Arial"/>
              </a:rPr>
              <a:t> — no vendor lock-in.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B63"/>
                </a:solidFill>
                <a:latin typeface="Arial"/>
              </a:rPr>
              <a:t>Optional DOA / MYMRL registry crawlers extend coverage when authoritative data is available.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19088"/>
            <a:ext cx="11094415" cy="2011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AgriSchema-MY  ·  Trustworthy knowledge exchange for export-grade harvests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1089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4B"/>
                </a:solidFill>
                <a:latin typeface="Arial"/>
              </a:rPr>
              <a:t>THE REVIEW GATE — OUR QUALITY GUARANTEE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102412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6B3C"/>
                </a:solidFill>
                <a:latin typeface="Arial"/>
              </a:rPr>
              <a:t>Every claim passes a fail-closed review gate — REJECT never 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3583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5358384" cy="457200"/>
          </a:xfrm>
          <a:prstGeom prst="rect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9384"/>
            <a:ext cx="5029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LAYER 1 · COMPLIANCE  (deterministic, fail-closed)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50592"/>
            <a:ext cx="5029200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E8B84B"/>
                </a:solidFill>
                <a:latin typeface="Arial"/>
              </a:rPr>
              <a:t>▪  </a:t>
            </a:r>
            <a:r>
              <a:rPr sz="1300" b="1">
                <a:solidFill>
                  <a:srgbClr val="1A6B3C"/>
                </a:solidFill>
                <a:latin typeface="Arial"/>
              </a:rPr>
              <a:t>REJECT: </a:t>
            </a:r>
            <a:r>
              <a:rPr sz="1300">
                <a:solidFill>
                  <a:srgbClr val="1C231F"/>
                </a:solidFill>
                <a:latin typeface="Arial"/>
              </a:rPr>
              <a:t>banned-pesticide denylist → hard block.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E8B84B"/>
                </a:solidFill>
                <a:latin typeface="Arial"/>
              </a:rPr>
              <a:t>▪  </a:t>
            </a:r>
            <a:r>
              <a:rPr sz="1300" b="1">
                <a:solidFill>
                  <a:srgbClr val="1A6B3C"/>
                </a:solidFill>
                <a:latin typeface="Arial"/>
              </a:rPr>
              <a:t>FLAG: </a:t>
            </a:r>
            <a:r>
              <a:rPr sz="1300">
                <a:solidFill>
                  <a:srgbClr val="1C231F"/>
                </a:solidFill>
                <a:latin typeface="Arial"/>
              </a:rPr>
              <a:t>restricted use, missing PHI, or missing fields.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5F6B63"/>
                </a:solidFill>
                <a:latin typeface="Arial"/>
              </a:rPr>
              <a:t>▪  </a:t>
            </a:r>
            <a:r>
              <a:rPr sz="1300" b="1">
                <a:solidFill>
                  <a:srgbClr val="1A6B3C"/>
                </a:solidFill>
                <a:latin typeface="Arial"/>
              </a:rPr>
              <a:t>Roadmap: </a:t>
            </a:r>
            <a:r>
              <a:rPr sz="1300">
                <a:solidFill>
                  <a:srgbClr val="1C231F"/>
                </a:solidFill>
                <a:latin typeface="Arial"/>
              </a:rPr>
              <a:t>registration allowlist check is built but disabled until authoritative DOA data is supplied.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874519"/>
            <a:ext cx="5367528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D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72784" y="1874519"/>
            <a:ext cx="5367528" cy="457200"/>
          </a:xfrm>
          <a:prstGeom prst="rect">
            <a:avLst/>
          </a:prstGeom>
          <a:solidFill>
            <a:srgbClr val="2D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929384"/>
            <a:ext cx="5029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AGRONOMIC REVIEW AGENT  (LLM reviewer)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450592"/>
            <a:ext cx="5029200" cy="18288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E8B84B"/>
                </a:solidFill>
                <a:latin typeface="Arial"/>
              </a:rPr>
              <a:t>▪  </a:t>
            </a:r>
            <a:r>
              <a:rPr sz="1300" b="1">
                <a:solidFill>
                  <a:srgbClr val="1A6B3C"/>
                </a:solidFill>
                <a:latin typeface="Arial"/>
              </a:rPr>
              <a:t>Verdict: </a:t>
            </a:r>
            <a:r>
              <a:rPr sz="1300">
                <a:solidFill>
                  <a:srgbClr val="1C231F"/>
                </a:solidFill>
                <a:latin typeface="Arial"/>
              </a:rPr>
              <a:t>grades each entry PASS / FLAG / REJECT.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E8B84B"/>
                </a:solidFill>
                <a:latin typeface="Arial"/>
              </a:rPr>
              <a:t>▪  </a:t>
            </a:r>
            <a:r>
              <a:rPr sz="1300" b="1">
                <a:solidFill>
                  <a:srgbClr val="1A6B3C"/>
                </a:solidFill>
                <a:latin typeface="Arial"/>
              </a:rPr>
              <a:t>Honest framing: </a:t>
            </a:r>
            <a:r>
              <a:rPr sz="1300">
                <a:solidFill>
                  <a:srgbClr val="1C231F"/>
                </a:solidFill>
                <a:latin typeface="Arial"/>
              </a:rPr>
              <a:t>a competent internal fact-checker — not yet a source-verified safety gate.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E8B84B"/>
                </a:solidFill>
                <a:latin typeface="Arial"/>
              </a:rPr>
              <a:t>▪  </a:t>
            </a:r>
            <a:r>
              <a:rPr sz="1300" b="1">
                <a:solidFill>
                  <a:srgbClr val="1A6B3C"/>
                </a:solidFill>
                <a:latin typeface="Arial"/>
              </a:rPr>
              <a:t>Oversight: </a:t>
            </a:r>
            <a:r>
              <a:rPr sz="1300">
                <a:solidFill>
                  <a:srgbClr val="1C231F"/>
                </a:solidFill>
                <a:latin typeface="Arial"/>
              </a:rPr>
              <a:t>verdicts feed the admin Review-Queue UI for human oversight.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80"/>
            <a:ext cx="11094415" cy="685800"/>
          </a:xfrm>
          <a:prstGeom prst="roundRect">
            <a:avLst>
              <a:gd name="adj" fmla="val 5000"/>
            </a:avLst>
          </a:prstGeom>
          <a:solidFill>
            <a:srgbClr val="FBF3DD"/>
          </a:solidFill>
          <a:ln w="127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1F"/>
                </a:solidFill>
                <a:latin typeface="Arial"/>
              </a:rPr>
              <a:t/>
            </a:r>
            <a:r>
              <a:rPr sz="1400" b="0">
                <a:solidFill>
                  <a:srgbClr val="1C231F"/>
                </a:solidFill>
                <a:latin typeface="Arial"/>
              </a:rPr>
              <a:t>Every claim is marked </a:t>
            </a:r>
            <a:r>
              <a:rPr sz="1400" b="1">
                <a:solidFill>
                  <a:srgbClr val="1A6B3C"/>
                </a:solidFill>
                <a:latin typeface="Arial"/>
              </a:rPr>
              <a:t>verified vs estimate</a:t>
            </a:r>
            <a:r>
              <a:rPr sz="1400" b="0">
                <a:solidFill>
                  <a:srgbClr val="1C231F"/>
                </a:solidFill>
                <a:latin typeface="Arial"/>
              </a:rPr>
              <a:t>  ·  REJECT entries are never embedded and never reach a farmer.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76672"/>
            <a:ext cx="3515258" cy="777240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/>
            </a:r>
            <a:r>
              <a:rPr sz="2200" b="1">
                <a:solidFill>
                  <a:srgbClr val="E8B84B"/>
                </a:solidFill>
                <a:latin typeface="Arial"/>
              </a:rPr>
              <a:t>23  </a:t>
            </a:r>
            <a:r>
              <a:rPr sz="1400" b="0">
                <a:solidFill>
                  <a:srgbClr val="FFFFFF"/>
                </a:solidFill>
                <a:latin typeface="Arial"/>
              </a:rPr>
              <a:t>disease entries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5376672"/>
            <a:ext cx="3515258" cy="777240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/>
            </a:r>
            <a:r>
              <a:rPr sz="2200" b="1">
                <a:solidFill>
                  <a:srgbClr val="E8B84B"/>
                </a:solidFill>
                <a:latin typeface="Arial"/>
              </a:rPr>
              <a:t>8  </a:t>
            </a:r>
            <a:r>
              <a:rPr sz="1400" b="0">
                <a:solidFill>
                  <a:srgbClr val="FFFFFF"/>
                </a:solidFill>
                <a:latin typeface="Arial"/>
              </a:rPr>
              <a:t>crops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5376672"/>
            <a:ext cx="3515258" cy="777240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/>
            </a:r>
            <a:r>
              <a:rPr sz="2200" b="1">
                <a:solidFill>
                  <a:srgbClr val="E8B84B"/>
                </a:solidFill>
                <a:latin typeface="Arial"/>
              </a:rPr>
              <a:t>654  </a:t>
            </a:r>
            <a:r>
              <a:rPr sz="1400" b="0">
                <a:solidFill>
                  <a:srgbClr val="FFFFFF"/>
                </a:solidFill>
                <a:latin typeface="Arial"/>
              </a:rPr>
              <a:t>MARDI passages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19088"/>
            <a:ext cx="11094415" cy="2011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AgriSchema-MY  ·  Trustworthy knowledge exchange for export-grade harvests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1089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4B"/>
                </a:solidFill>
                <a:latin typeface="Arial"/>
              </a:rPr>
              <a:t>ARCHITECTURE &amp; 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102412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6B3C"/>
                </a:solidFill>
                <a:latin typeface="Arial"/>
              </a:rPr>
              <a:t>Source → review → publish → serve: search works even with zero LLM or API keys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31720"/>
            <a:ext cx="1970166" cy="1463040"/>
          </a:xfrm>
          <a:prstGeom prst="roundRect">
            <a:avLst>
              <a:gd name="adj" fmla="val 10000"/>
            </a:avLst>
          </a:prstGeom>
          <a:solidFill>
            <a:srgbClr val="E9F1EC"/>
          </a:solidFill>
          <a:ln w="19050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A6B3C"/>
                </a:solidFill>
                <a:latin typeface="Arial"/>
              </a:rPr>
              <a:t>Sources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231F"/>
                </a:solidFill>
                <a:latin typeface="Arial"/>
              </a:rPr>
              <a:t>MARDI bulletins &amp; PDFs
(+ optional DOA / MYMRL)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7094" y="2916935"/>
            <a:ext cx="274320" cy="292608"/>
          </a:xfrm>
          <a:prstGeom prst="rightArrow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29702" y="2331720"/>
            <a:ext cx="1970166" cy="1463040"/>
          </a:xfrm>
          <a:prstGeom prst="roundRect">
            <a:avLst>
              <a:gd name="adj" fmla="val 10000"/>
            </a:avLst>
          </a:prstGeom>
          <a:solidFill>
            <a:srgbClr val="E9F1EC"/>
          </a:solidFill>
          <a:ln w="19050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A6B3C"/>
                </a:solidFill>
                <a:latin typeface="Arial"/>
              </a:rPr>
              <a:t>Capture agents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231F"/>
                </a:solidFill>
                <a:latin typeface="Arial"/>
              </a:rPr>
              <a:t>Scrape · Seed · Extract
→ YAML entries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18156" y="2916935"/>
            <a:ext cx="274320" cy="292608"/>
          </a:xfrm>
          <a:prstGeom prst="rightArrow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10764" y="2331720"/>
            <a:ext cx="1970166" cy="1463040"/>
          </a:xfrm>
          <a:prstGeom prst="roundRect">
            <a:avLst>
              <a:gd name="adj" fmla="val 10000"/>
            </a:avLst>
          </a:prstGeom>
          <a:solidFill>
            <a:srgbClr val="FBF3DD"/>
          </a:solidFill>
          <a:ln w="1905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A6B3C"/>
                </a:solidFill>
                <a:latin typeface="Arial"/>
              </a:rPr>
              <a:t>Review gate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231F"/>
                </a:solidFill>
                <a:latin typeface="Arial"/>
              </a:rPr>
              <a:t>Compliance (fail-closed)
+ agronomic review
REJECT blocked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99218" y="2916935"/>
            <a:ext cx="274320" cy="292608"/>
          </a:xfrm>
          <a:prstGeom prst="rightArrow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91826" y="2331720"/>
            <a:ext cx="1970166" cy="1463040"/>
          </a:xfrm>
          <a:prstGeom prst="roundRect">
            <a:avLst>
              <a:gd name="adj" fmla="val 10000"/>
            </a:avLst>
          </a:prstGeom>
          <a:solidFill>
            <a:srgbClr val="E9F1EC"/>
          </a:solidFill>
          <a:ln w="19050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A6B3C"/>
                </a:solidFill>
                <a:latin typeface="Arial"/>
              </a:rPr>
              <a:t>ChromaDB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231F"/>
                </a:solidFill>
                <a:latin typeface="Arial"/>
              </a:rPr>
              <a:t>2 collections
local all-MiniLM
free, no key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80280" y="2916935"/>
            <a:ext cx="274320" cy="292608"/>
          </a:xfrm>
          <a:prstGeom prst="rightArrow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72888" y="2331720"/>
            <a:ext cx="1970166" cy="1463040"/>
          </a:xfrm>
          <a:prstGeom prst="roundRect">
            <a:avLst>
              <a:gd name="adj" fmla="val 10000"/>
            </a:avLst>
          </a:prstGeom>
          <a:solidFill>
            <a:srgbClr val="DEECE3"/>
          </a:solidFill>
          <a:ln w="19050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A6B3C"/>
                </a:solidFill>
                <a:latin typeface="Arial"/>
              </a:rPr>
              <a:t>API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231F"/>
                </a:solidFill>
                <a:latin typeface="Arial"/>
              </a:rPr>
              <a:t>/query · /ask
/diagnose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1F"/>
                </a:solidFill>
                <a:latin typeface="Arial"/>
              </a:rPr>
              <a:t/>
            </a:r>
            <a:r>
              <a:rPr sz="1300" b="1">
                <a:solidFill>
                  <a:srgbClr val="1A6B3C"/>
                </a:solidFill>
                <a:latin typeface="Arial"/>
              </a:rPr>
              <a:t>Stack:  </a:t>
            </a:r>
            <a:r>
              <a:rPr sz="1300" b="0">
                <a:solidFill>
                  <a:srgbClr val="1C231F"/>
                </a:solidFill>
                <a:latin typeface="Arial"/>
              </a:rPr>
              <a:t>FastAPI  ·  React + Vite  ·  agentic coding CLI + swappable LLM provider  ·  ChromaDB (local embeddings).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09160"/>
            <a:ext cx="11094415" cy="868680"/>
          </a:xfrm>
          <a:prstGeom prst="roundRect">
            <a:avLst>
              <a:gd name="adj" fmla="val 5000"/>
            </a:avLst>
          </a:prstGeom>
          <a:solidFill>
            <a:srgbClr val="E9F1EC"/>
          </a:solidFill>
          <a:ln w="12700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1F"/>
                </a:solidFill>
                <a:latin typeface="Arial"/>
              </a:rPr>
              <a:t/>
            </a:r>
            <a:r>
              <a:rPr sz="1350" b="1">
                <a:solidFill>
                  <a:srgbClr val="1A6B3C"/>
                </a:solidFill>
                <a:latin typeface="Arial"/>
              </a:rPr>
              <a:t>Graceful degradation:  </a:t>
            </a:r>
            <a:r>
              <a:rPr sz="1300" b="0">
                <a:solidFill>
                  <a:srgbClr val="1C231F"/>
                </a:solidFill>
                <a:latin typeface="Arial"/>
              </a:rPr>
              <a:t>vector search runs with no LLM and no API keys — the core product is always free. REJECT entries are never published.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19088"/>
            <a:ext cx="11094415" cy="2011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AgriSchema-MY  ·  Trustworthy knowledge exchange for export-grade harvests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1089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4B"/>
                </a:solidFill>
                <a:latin typeface="Arial"/>
              </a:rPr>
              <a:t>PRODUCT — THE FARMER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102412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6B3C"/>
                </a:solidFill>
                <a:latin typeface="Arial"/>
              </a:rPr>
              <a:t>Photo + text diagnosis grounded in verified sources — the AI describes, the KB diagnoses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515258" cy="502920"/>
          </a:xfrm>
          <a:prstGeom prst="rect">
            <a:avLst/>
          </a:prstGeom>
          <a:solidFill>
            <a:srgbClr val="2D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3423818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Vision DESCRIBES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3149498" cy="1463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1F"/>
                </a:solidFill>
                <a:latin typeface="Arial"/>
              </a:rPr>
              <a:t>/diagnose reads a photo, describes symptoms and guesses the crop — it never names the disease itself.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82186" y="2926080"/>
            <a:ext cx="237744" cy="384048"/>
          </a:xfrm>
          <a:prstGeom prst="rightArrow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8218" y="201168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8218" y="2011680"/>
            <a:ext cx="3515258" cy="502920"/>
          </a:xfrm>
          <a:prstGeom prst="rect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2084831"/>
            <a:ext cx="3423818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KB DIAGNOSES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697480"/>
            <a:ext cx="3149498" cy="1463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1F"/>
                </a:solidFill>
                <a:latin typeface="Arial"/>
              </a:rPr>
              <a:t>Verified knowledge-base retrieval matches symptoms to reviewed entries — the actual diagnosis is grounded.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71764" y="2926080"/>
            <a:ext cx="237744" cy="384048"/>
          </a:xfrm>
          <a:prstGeom prst="rightArrow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7796" y="201168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2011680"/>
            <a:ext cx="3515258" cy="50292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3516" y="2084831"/>
            <a:ext cx="3423818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LLM SUMMARISES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0676" y="2697480"/>
            <a:ext cx="3149498" cy="1463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C231F"/>
                </a:solidFill>
                <a:latin typeface="Arial"/>
              </a:rPr>
              <a:t>/ask summarises only the retrieved source cards (“ONLY SOURCES”) — it cannot invent treatments.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1094415" cy="960120"/>
          </a:xfrm>
          <a:prstGeom prst="roundRect">
            <a:avLst>
              <a:gd name="adj" fmla="val 5000"/>
            </a:avLst>
          </a:prstGeom>
          <a:solidFill>
            <a:srgbClr val="FBF3DD"/>
          </a:solidFill>
          <a:ln w="127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1F"/>
                </a:solidFill>
                <a:latin typeface="Arial"/>
              </a:rPr>
              <a:t/>
            </a:r>
            <a:r>
              <a:rPr sz="1400" b="1">
                <a:solidFill>
                  <a:srgbClr val="1A6B3C"/>
                </a:solidFill>
                <a:latin typeface="Arial"/>
              </a:rPr>
              <a:t>Guest-friendly and honest by construction:  </a:t>
            </a:r>
            <a:r>
              <a:rPr sz="1350" b="0">
                <a:solidFill>
                  <a:srgbClr val="1C231F"/>
                </a:solidFill>
                <a:latin typeface="Arial"/>
              </a:rPr>
              <a:t>because the AI can only surface reviewed, verified sources, it cannot hallucinate an unsafe dose.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19088"/>
            <a:ext cx="11094415" cy="2011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AgriSchema-MY  ·  Trustworthy knowledge exchange for export-grade harvests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1089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4B"/>
                </a:solidFill>
                <a:latin typeface="Arial"/>
              </a:rPr>
              <a:t>COMMUNITY — THE KNOWLEDGE-EXCHANGE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102412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6B3C"/>
                </a:solidFill>
                <a:latin typeface="Arial"/>
              </a:rPr>
              <a:t>Farmers &amp; extension officers answer each other — and earn Agri Points for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548640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50292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A6B3C"/>
                </a:solidFill>
                <a:latin typeface="Arial"/>
              </a:rPr>
              <a:t>HOW REPUTATION IS EARNED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06040"/>
            <a:ext cx="5029200" cy="566928"/>
          </a:xfrm>
          <a:prstGeom prst="roundRect">
            <a:avLst>
              <a:gd name="adj" fmla="val 12000"/>
            </a:avLst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1F"/>
                </a:solidFill>
                <a:latin typeface="Arial"/>
              </a:rPr>
              <a:t>Post an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624328"/>
            <a:ext cx="160020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D9E5F"/>
                </a:solidFill>
                <a:latin typeface="Arial"/>
              </a:rPr>
              <a:t>+5 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91840"/>
            <a:ext cx="5029200" cy="566928"/>
          </a:xfrm>
          <a:prstGeom prst="roundRect">
            <a:avLst>
              <a:gd name="adj" fmla="val 12000"/>
            </a:avLst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1F"/>
                </a:solidFill>
                <a:latin typeface="Arial"/>
              </a:rPr>
              <a:t>Answer gets accepted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3310128"/>
            <a:ext cx="160020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6B3C"/>
                </a:solidFill>
                <a:latin typeface="Arial"/>
              </a:rPr>
              <a:t>+15 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77639"/>
            <a:ext cx="5029200" cy="566928"/>
          </a:xfrm>
          <a:prstGeom prst="roundRect">
            <a:avLst>
              <a:gd name="adj" fmla="val 12000"/>
            </a:avLst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1F"/>
                </a:solidFill>
                <a:latin typeface="Arial"/>
              </a:rPr>
              <a:t>Ask a question / upvotes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995927"/>
            <a:ext cx="1600200" cy="53035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F6B63"/>
                </a:solidFill>
                <a:latin typeface="Arial"/>
              </a:rPr>
              <a:t>0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81727"/>
            <a:ext cx="5029200" cy="640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6B3C"/>
                </a:solidFill>
                <a:latin typeface="Arial"/>
              </a:rPr>
              <a:t>5 reputation levels: Seedling → Community Champion.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965960"/>
            <a:ext cx="5239512" cy="3520440"/>
          </a:xfrm>
          <a:prstGeom prst="roundRect">
            <a:avLst>
              <a:gd name="adj" fmla="val 6000"/>
            </a:avLst>
          </a:prstGeom>
          <a:solidFill>
            <a:srgbClr val="DEECE3"/>
          </a:solidFill>
          <a:ln w="12700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194560"/>
            <a:ext cx="4800600" cy="3108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1A6B3C"/>
                </a:solidFill>
                <a:latin typeface="Arial"/>
              </a:rPr>
              <a:t>THE HUMAN LAYER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E8B84B"/>
                </a:solidFill>
                <a:latin typeface="Arial"/>
              </a:rPr>
              <a:t>▪  </a:t>
            </a:r>
            <a:r>
              <a:rPr sz="1300" b="1">
                <a:solidFill>
                  <a:srgbClr val="1A6B3C"/>
                </a:solidFill>
                <a:latin typeface="Arial"/>
              </a:rPr>
              <a:t>Peer exchange surfaces </a:t>
            </a:r>
            <a:r>
              <a:rPr sz="1300">
                <a:solidFill>
                  <a:srgbClr val="1C231F"/>
                </a:solidFill>
                <a:latin typeface="Arial"/>
              </a:rPr>
              <a:t>local, practical know-how the AI knowledge base can't capture alone.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E8B84B"/>
                </a:solidFill>
                <a:latin typeface="Arial"/>
              </a:rPr>
              <a:t>▪  </a:t>
            </a:r>
            <a:r>
              <a:rPr sz="1300" b="1">
                <a:solidFill>
                  <a:srgbClr val="1A6B3C"/>
                </a:solidFill>
                <a:latin typeface="Arial"/>
              </a:rPr>
              <a:t>Contributors </a:t>
            </a:r>
            <a:r>
              <a:rPr sz="1300">
                <a:solidFill>
                  <a:srgbClr val="1C231F"/>
                </a:solidFill>
                <a:latin typeface="Arial"/>
              </a:rPr>
              <a:t>answer well, build reputation, and gain visibility across the platform.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E8B84B"/>
                </a:solidFill>
                <a:latin typeface="Arial"/>
              </a:rPr>
              <a:t>▪  </a:t>
            </a:r>
            <a:r>
              <a:rPr sz="1300" b="1">
                <a:solidFill>
                  <a:srgbClr val="1A6B3C"/>
                </a:solidFill>
                <a:latin typeface="Arial"/>
              </a:rPr>
              <a:t>Earned </a:t>
            </a:r>
            <a:r>
              <a:rPr sz="1300">
                <a:solidFill>
                  <a:srgbClr val="1C231F"/>
                </a:solidFill>
                <a:latin typeface="Arial"/>
              </a:rPr>
              <a:t>points become spendable value — the bridge into the marketplace (next).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F6B63"/>
                </a:solidFill>
                <a:latin typeface="Arial"/>
              </a:rPr>
              <a:t>Seeded questions &amp; ledger lines are demo data; the earn mechanics are fully real (localStorage wallet).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19088"/>
            <a:ext cx="11094415" cy="2011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AgriSchema-MY  ·  Trustworthy knowledge exchange for export-grade harvests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1089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4B"/>
                </a:solidFill>
                <a:latin typeface="Arial"/>
              </a:rPr>
              <a:t>MARKETPLACE + THE ACQUISITION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102412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6B3C"/>
                </a:solidFill>
                <a:latin typeface="Arial"/>
              </a:rPr>
              <a:t>Knowledge exchange acquires, vouchers retain, the marketplace monetizes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1999427" cy="1371600"/>
          </a:xfrm>
          <a:prstGeom prst="roundRect">
            <a:avLst>
              <a:gd name="adj" fmla="val 10000"/>
            </a:avLst>
          </a:prstGeom>
          <a:solidFill>
            <a:srgbClr val="E9F1EC"/>
          </a:solidFill>
          <a:ln w="19050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A6B3C"/>
                </a:solidFill>
                <a:latin typeface="Arial"/>
              </a:rPr>
              <a:t>Answer Q&amp;A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231F"/>
                </a:solidFill>
                <a:latin typeface="Arial"/>
              </a:rPr>
              <a:t>+5 pts · accepted +15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57211" y="2834640"/>
            <a:ext cx="256032" cy="274320"/>
          </a:xfrm>
          <a:prstGeom prst="rightArrow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22387" y="2286000"/>
            <a:ext cx="1999427" cy="1371600"/>
          </a:xfrm>
          <a:prstGeom prst="roundRect">
            <a:avLst>
              <a:gd name="adj" fmla="val 10000"/>
            </a:avLst>
          </a:prstGeom>
          <a:solidFill>
            <a:srgbClr val="E9F1EC"/>
          </a:solidFill>
          <a:ln w="19050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A6B3C"/>
                </a:solidFill>
                <a:latin typeface="Arial"/>
              </a:rPr>
              <a:t>Earn points
+ reputation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231F"/>
                </a:solidFill>
                <a:latin typeface="Arial"/>
              </a:rPr>
              <a:t>5 levels · exposure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30958" y="2834640"/>
            <a:ext cx="256032" cy="274320"/>
          </a:xfrm>
          <a:prstGeom prst="rightArrow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96134" y="2286000"/>
            <a:ext cx="1999427" cy="1371600"/>
          </a:xfrm>
          <a:prstGeom prst="roundRect">
            <a:avLst>
              <a:gd name="adj" fmla="val 10000"/>
            </a:avLst>
          </a:prstGeom>
          <a:solidFill>
            <a:srgbClr val="FBF3DD"/>
          </a:solidFill>
          <a:ln w="1905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A6B3C"/>
                </a:solidFill>
                <a:latin typeface="Arial"/>
              </a:rPr>
              <a:t>Redeem vouchers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231F"/>
                </a:solidFill>
                <a:latin typeface="Arial"/>
              </a:rPr>
              <a:t>RM1/5/10 =
100/500/1000 pts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04705" y="2834640"/>
            <a:ext cx="256032" cy="274320"/>
          </a:xfrm>
          <a:prstGeom prst="rightArrow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9881" y="2286000"/>
            <a:ext cx="1999427" cy="1371600"/>
          </a:xfrm>
          <a:prstGeom prst="roundRect">
            <a:avLst>
              <a:gd name="adj" fmla="val 10000"/>
            </a:avLst>
          </a:prstGeom>
          <a:solidFill>
            <a:srgbClr val="E9F1EC"/>
          </a:solidFill>
          <a:ln w="19050">
            <a:solidFill>
              <a:srgbClr val="1A6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A6B3C"/>
                </a:solidFill>
                <a:latin typeface="Arial"/>
              </a:rPr>
              <a:t>Spend in
Marketplace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231F"/>
                </a:solidFill>
                <a:latin typeface="Arial"/>
              </a:rPr>
              <a:t>voucher = checkout
discount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78452" y="2834640"/>
            <a:ext cx="256032" cy="274320"/>
          </a:xfrm>
          <a:prstGeom prst="rightArrow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43628" y="2286000"/>
            <a:ext cx="1999427" cy="1371600"/>
          </a:xfrm>
          <a:prstGeom prst="roundRect">
            <a:avLst>
              <a:gd name="adj" fmla="val 10000"/>
            </a:avLst>
          </a:prstGeom>
          <a:solidFill>
            <a:srgbClr val="FBF3DD"/>
          </a:solidFill>
          <a:ln w="1905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A6B3C"/>
                </a:solidFill>
                <a:latin typeface="Arial"/>
              </a:rPr>
              <a:t>Sellers sponsor
shipping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231F"/>
                </a:solidFill>
                <a:latin typeface="Arial"/>
              </a:rPr>
              <a:t>40 pts / slot →
more buyers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11094415" cy="566928"/>
          </a:xfrm>
          <a:prstGeom prst="roundRect">
            <a:avLst>
              <a:gd name="adj" fmla="val 10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↺  Closed loop  —  vouchers are spendable ONLY in the Marketplace:  engagement → retention → local-economy monetization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2040"/>
            <a:ext cx="11094415" cy="7315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1F"/>
                </a:solidFill>
                <a:latin typeface="Arial"/>
              </a:rPr>
              <a:t/>
            </a:r>
            <a:r>
              <a:rPr sz="1300" b="0">
                <a:solidFill>
                  <a:srgbClr val="1C231F"/>
                </a:solidFill>
                <a:latin typeface="Arial"/>
              </a:rPr>
              <a:t>The knowledge exchange is the acquisition engine  ·  vouchers are retention  ·  the marketplace is monetization — all mechanics are real; sample listings are demo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19088"/>
            <a:ext cx="11094415" cy="2011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AgriSchema-MY  ·  Trustworthy knowledge exchange for export-grade harvests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1089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4B"/>
                </a:solidFill>
                <a:latin typeface="Arial"/>
              </a:rPr>
              <a:t>WHY IT MATTERS —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102412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6B3C"/>
                </a:solidFill>
                <a:latin typeface="Arial"/>
              </a:rPr>
              <a:t>Verified knowledge exchange → export-grade quality → rural income &amp; agri-exports rise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5387187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0584" cy="169164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148840"/>
            <a:ext cx="4929987" cy="1371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6B3C"/>
                </a:solidFill>
                <a:latin typeface="Arial"/>
              </a:rPr>
              <a:t>Serves the 2026 vision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31F"/>
                </a:solidFill>
                <a:latin typeface="Arial"/>
              </a:rPr>
              <a:t>Directly answers NAP 2.0 goals: raise quality &amp; productivity, grow agrofood exports, cut import dependence, empower smallholders.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5867" y="1965960"/>
            <a:ext cx="5387187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55867" y="1965960"/>
            <a:ext cx="100584" cy="1691640"/>
          </a:xfrm>
          <a:prstGeom prst="rect">
            <a:avLst/>
          </a:prstGeom>
          <a:solidFill>
            <a:srgbClr val="2D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1899" y="2148840"/>
            <a:ext cx="4929987" cy="1371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6B3C"/>
                </a:solidFill>
                <a:latin typeface="Arial"/>
              </a:rPr>
              <a:t>Trust by alignment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31F"/>
                </a:solidFill>
                <a:latin typeface="Arial"/>
              </a:rPr>
              <a:t>Content is structured for DOA / MARDI alignment and labelled verified vs estimate — safe to act on in the field.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5387187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100584" cy="1691640"/>
          </a:xfrm>
          <a:prstGeom prst="rect">
            <a:avLst/>
          </a:prstGeom>
          <a:solidFill>
            <a:srgbClr val="2D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114800"/>
            <a:ext cx="4929987" cy="1371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6B3C"/>
                </a:solidFill>
                <a:latin typeface="Arial"/>
              </a:rPr>
              <a:t>Scales without retraining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31F"/>
                </a:solidFill>
                <a:latin typeface="Arial"/>
              </a:rPr>
              <a:t>New verified entries are ingested and embedded locally — no model retraining, no API cost to grow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7" y="3931920"/>
            <a:ext cx="5387187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5867" y="3931920"/>
            <a:ext cx="100584" cy="169164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1899" y="4114800"/>
            <a:ext cx="4929987" cy="1371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6B3C"/>
                </a:solidFill>
                <a:latin typeface="Arial"/>
              </a:rPr>
              <a:t>Local Economy, made real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C231F"/>
                </a:solidFill>
                <a:latin typeface="Arial"/>
              </a:rPr>
              <a:t>Higher, safer quality lifts rural livelihoods and export earnings — the track's goal, delivered on the ground.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19088"/>
            <a:ext cx="11094415" cy="2011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AgriSchema-MY  ·  Trustworthy knowledge exchange for export-grade harvests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10896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84B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102412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6B3C"/>
                </a:solidFill>
                <a:latin typeface="Arial"/>
              </a:rPr>
              <a:t>From a verified fact-checker to a source-verified safety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11094415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749808" cy="749808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B84B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020824"/>
            <a:ext cx="9905695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1F"/>
                </a:solidFill>
                <a:latin typeface="Arial"/>
              </a:rPr>
              <a:t/>
            </a:r>
            <a:r>
              <a:rPr sz="1450" b="1">
                <a:solidFill>
                  <a:srgbClr val="1A6B3C"/>
                </a:solidFill>
                <a:latin typeface="Arial"/>
              </a:rPr>
              <a:t>Broaden coverage  —  </a:t>
            </a:r>
            <a:r>
              <a:rPr sz="1300" b="0">
                <a:solidFill>
                  <a:srgbClr val="1C231F"/>
                </a:solidFill>
                <a:latin typeface="Arial"/>
              </a:rPr>
              <a:t>More crops and diseases beyond today's 8 crops / 23 entries.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07208"/>
            <a:ext cx="11094415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807208"/>
            <a:ext cx="749808" cy="749808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B84B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862072"/>
            <a:ext cx="9905695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1F"/>
                </a:solidFill>
                <a:latin typeface="Arial"/>
              </a:rPr>
              <a:t/>
            </a:r>
            <a:r>
              <a:rPr sz="1450" b="1">
                <a:solidFill>
                  <a:srgbClr val="1A6B3C"/>
                </a:solidFill>
                <a:latin typeface="Arial"/>
              </a:rPr>
              <a:t>Authoritative allowlist  —  </a:t>
            </a:r>
            <a:r>
              <a:rPr sz="1300" b="0">
                <a:solidFill>
                  <a:srgbClr val="1C231F"/>
                </a:solidFill>
                <a:latin typeface="Arial"/>
              </a:rPr>
              <a:t>Supply DOA registration data to enable the built-but-disabled Layer-1 allowlist check.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48456"/>
            <a:ext cx="11094415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648456"/>
            <a:ext cx="749808" cy="749808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B84B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03320"/>
            <a:ext cx="9905695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1F"/>
                </a:solidFill>
                <a:latin typeface="Arial"/>
              </a:rPr>
              <a:t/>
            </a:r>
            <a:r>
              <a:rPr sz="1450" b="1">
                <a:solidFill>
                  <a:srgbClr val="1A6B3C"/>
                </a:solidFill>
                <a:latin typeface="Arial"/>
              </a:rPr>
              <a:t>Complete Layer-2 grounding  —  </a:t>
            </a:r>
            <a:r>
              <a:rPr sz="1300" b="0">
                <a:solidFill>
                  <a:srgbClr val="1C231F"/>
                </a:solidFill>
                <a:latin typeface="Arial"/>
              </a:rPr>
              <a:t>Finish source-verified grounded review — today a paddy-only prototype, blocked by a thin MARDI corpus (~6% paddy).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9704"/>
            <a:ext cx="11094415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489704"/>
            <a:ext cx="749808" cy="749808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B84B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544568"/>
            <a:ext cx="9905695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1F"/>
                </a:solidFill>
                <a:latin typeface="Arial"/>
              </a:rPr>
              <a:t/>
            </a:r>
            <a:r>
              <a:rPr sz="1450" b="1">
                <a:solidFill>
                  <a:srgbClr val="1A6B3C"/>
                </a:solidFill>
                <a:latin typeface="Arial"/>
              </a:rPr>
              <a:t>Live DOA integration  —  </a:t>
            </a:r>
            <a:r>
              <a:rPr sz="1300" b="0">
                <a:solidFill>
                  <a:srgbClr val="1C231F"/>
                </a:solidFill>
                <a:latin typeface="Arial"/>
              </a:rPr>
              <a:t>Direct integration with authoritative registries for real-time compliance.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30952"/>
            <a:ext cx="11094415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5330952"/>
            <a:ext cx="749808" cy="749808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B84B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385816"/>
            <a:ext cx="9905695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231F"/>
                </a:solidFill>
                <a:latin typeface="Arial"/>
              </a:rPr>
              <a:t/>
            </a:r>
            <a:r>
              <a:rPr sz="1450" b="1">
                <a:solidFill>
                  <a:srgbClr val="1A6B3C"/>
                </a:solidFill>
                <a:latin typeface="Arial"/>
              </a:rPr>
              <a:t>Mobile / offline-first  —  </a:t>
            </a:r>
            <a:r>
              <a:rPr sz="1300" b="0">
                <a:solidFill>
                  <a:srgbClr val="1C231F"/>
                </a:solidFill>
                <a:latin typeface="Arial"/>
              </a:rPr>
              <a:t>Field-ready access for farmers with limited connectivity.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19088"/>
            <a:ext cx="11094415" cy="2011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AgriSchema-MY  ·  Trustworthy knowledge exchange for export-grade harvests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6B63"/>
                </a:solidFill>
                <a:latin typeface="Arial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84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17373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Trustworthy knowledge exchange =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8B84B"/>
                </a:solidFill>
                <a:latin typeface="Arial"/>
              </a:rPr>
              <a:t>export-grade quality + a stronger local economy.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728655" cy="7315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6EFE9"/>
                </a:solidFill>
                <a:latin typeface="Arial"/>
              </a:rPr>
              <a:t>AgriSchema-MY  —  verified crop-disease knowledge for Malaysian smallholders and extension officers. Try /ask, /diagnose, the community and the marketplace.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09160"/>
            <a:ext cx="3657600" cy="27432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728655" cy="11887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Tan Kuan Yu  ·  Lee Hui Ying  ·  Tan Chi Kien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FE0D5"/>
                </a:solidFill>
                <a:latin typeface="Arial"/>
              </a:rPr>
              <a:t>Tourism, Culture &amp; Local Economy  — 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