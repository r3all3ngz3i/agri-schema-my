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64008" cy="68580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92440" y="0"/>
            <a:ext cx="4099255" cy="685800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92440" y="0"/>
            <a:ext cx="4099255" cy="9144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051560"/>
            <a:ext cx="3459175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E8B84B"/>
                </a:solidFill>
                <a:latin typeface="Avenir Next"/>
              </a:rPr>
              <a:t>VERIFIED KNOWLEDGE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1828800"/>
            <a:ext cx="3459175" cy="11887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8B84B"/>
                </a:solidFill>
                <a:latin typeface="Avenir Next"/>
              </a:rPr>
              <a:t>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Helvetica Neue"/>
              </a:rPr>
              <a:t>verified disease entries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19" y="3154680"/>
            <a:ext cx="3459175" cy="11887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8B84B"/>
                </a:solidFill>
                <a:latin typeface="Avenir Next"/>
              </a:rPr>
              <a:t>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Helvetica Neue"/>
              </a:rPr>
              <a:t>Malaysian crops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19" y="4480560"/>
            <a:ext cx="3459175" cy="11887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8B84B"/>
                </a:solidFill>
                <a:latin typeface="Avenir Next"/>
              </a:rPr>
              <a:t>654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Helvetica Neue"/>
              </a:rPr>
              <a:t>MARDI source passages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777240"/>
            <a:ext cx="6858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00">
                <a:solidFill>
                  <a:srgbClr val="E8B84B"/>
                </a:solidFill>
                <a:latin typeface="Avenir Next"/>
              </a:rPr>
              <a:t>TOURISM, CULTURE &amp; LOCAL ECONOMY  · 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6858000" cy="10972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1A6B3C"/>
                </a:solidFill>
                <a:latin typeface="Avenir Next"/>
              </a:rPr>
              <a:t>AgriSchema-MY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54680"/>
            <a:ext cx="6858000" cy="10058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31F"/>
                </a:solidFill>
                <a:latin typeface="Helvetica Neue"/>
              </a:rPr>
              <a:t>Trustworthy knowledge exchange that lifts Malaysia's harvest to export grade.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709160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6858000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 spc="140">
                <a:solidFill>
                  <a:srgbClr val="5F6B63"/>
                </a:solidFill>
                <a:latin typeface="Avenir Next"/>
              </a:rPr>
              <a:t>TEAM</a:t>
            </a:r>
          </a:p>
          <a:p>
            <a:pPr>
              <a:lnSpc>
                <a:spcPct val="128000"/>
              </a:lnSpc>
            </a:pPr>
            <a:r>
              <a:rPr sz="1400" b="1">
                <a:solidFill>
                  <a:srgbClr val="1A6B3C"/>
                </a:solidFill>
                <a:latin typeface="Helvetica Neue"/>
              </a:rPr>
              <a:t>Tan Kuan Yu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   ·   Lead / Data &amp; Pipeline</a:t>
            </a:r>
          </a:p>
          <a:p>
            <a:pPr>
              <a:lnSpc>
                <a:spcPct val="128000"/>
              </a:lnSpc>
            </a:pPr>
            <a:r>
              <a:rPr sz="1400" b="1">
                <a:solidFill>
                  <a:srgbClr val="1A6B3C"/>
                </a:solidFill>
                <a:latin typeface="Helvetica Neue"/>
              </a:rPr>
              <a:t>Lee Hui Ying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   ·   Analytics Dashboard, Image ML</a:t>
            </a:r>
          </a:p>
          <a:p>
            <a:pPr>
              <a:lnSpc>
                <a:spcPct val="128000"/>
              </a:lnSpc>
            </a:pPr>
            <a:r>
              <a:rPr sz="1400" b="1">
                <a:solidFill>
                  <a:srgbClr val="1A6B3C"/>
                </a:solidFill>
                <a:latin typeface="Helvetica Neue"/>
              </a:rPr>
              <a:t>Tan Chi Kien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   ·   Agronomy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MALAYSIA'S 2026 AGRICULTURE VISION &amp; LOCAL ECONOMY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Malaysia is betting big on agrofood — yet still imports far more food than it exports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" y="2221991"/>
            <a:ext cx="82296" cy="1115568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30552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RM181.4 bil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Agrofood sector value, 2023 (+4.3% YoY)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KPKM, 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965960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9132" y="2221991"/>
            <a:ext cx="82296" cy="1115568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4250" y="2130552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~7.8% of GDP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Agriculture's share of national GDP, 2023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DOSM,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965960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711" y="2221991"/>
            <a:ext cx="82296" cy="1115568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3828" y="2130552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RM78.8 bil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National food import bill, 2023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DOSM, 2023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13048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9554" y="4069080"/>
            <a:ext cx="82296" cy="1115568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977639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−RM32 bil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Food trade deficit — imports RM78.8b vs exports RM46.5b, 2023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DOSM, 2023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3813048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9132" y="4069080"/>
            <a:ext cx="82296" cy="1115568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4250" y="3977639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56.2%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Rice self-sufficiency ratio, 2023 (new basis)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KPKM, 2024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7796" y="3813048"/>
            <a:ext cx="3515258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8711" y="4069080"/>
            <a:ext cx="82296" cy="1115568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3828" y="3977639"/>
            <a:ext cx="3131210" cy="13533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A6B3C"/>
                </a:solidFill>
                <a:latin typeface="Avenir Next"/>
              </a:rPr>
              <a:t>6 · 21 · 77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NAP 2.0 objectives · strategies · action plans, 2021–30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B63"/>
                </a:solidFill>
                <a:latin typeface="Helvetica Neue"/>
              </a:rPr>
              <a:t>NAP 2.0, KPKM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035040"/>
            <a:ext cx="11094415" cy="34747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F6B63"/>
                </a:solidFill>
                <a:latin typeface="Helvetica Neue"/>
              </a:rPr>
              <a:t>Sources: KPKM (Ministry of Agriculture &amp; Food Security) 2023/2024 · Department of Statistics Malaysia (DOSM) 2023 · National Agrofood Policy 2.0 (NAP 2.0, 2021–2030), KPKM/FAOLEX.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Smallholders get pesticide dosages from generic AI — shown as “verified” when they are only estimates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5943600" cy="32918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Smallholders and extension officers </a:t>
            </a:r>
            <a:r>
              <a:rPr sz="1400">
                <a:solidFill>
                  <a:srgbClr val="1C231F"/>
                </a:solidFill>
                <a:latin typeface="Helvetica Neue"/>
              </a:rPr>
              <a:t>ask ChatGPT, Google or forums how to treat a crop disease.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Pesticide dosages </a:t>
            </a:r>
            <a:r>
              <a:rPr sz="1400">
                <a:solidFill>
                  <a:srgbClr val="1C231F"/>
                </a:solidFill>
                <a:latin typeface="Helvetica Neue"/>
              </a:rPr>
              <a:t>and pre-harvest intervals (PHI) are presented as fact — but are unverified guesses.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Wrong dose or PHI → </a:t>
            </a:r>
            <a:r>
              <a:rPr sz="1400">
                <a:solidFill>
                  <a:srgbClr val="1C231F"/>
                </a:solidFill>
                <a:latin typeface="Helvetica Neue"/>
              </a:rPr>
              <a:t>illegal MRL residues → rejected or destroyed crops → farmer-safety and legal risk.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The farmer has </a:t>
            </a:r>
            <a:r>
              <a:rPr sz="1400">
                <a:solidFill>
                  <a:srgbClr val="1C231F"/>
                </a:solidFill>
                <a:latin typeface="Helvetica Neue"/>
              </a:rPr>
              <a:t>no way to tell a verified label from a confident guess.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2057400"/>
            <a:ext cx="4736592" cy="3429000"/>
          </a:xfrm>
          <a:prstGeom prst="roundRect">
            <a:avLst>
              <a:gd name="adj" fmla="val 5500"/>
            </a:avLst>
          </a:prstGeom>
          <a:solidFill>
            <a:srgbClr val="FBF3DD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258568"/>
            <a:ext cx="429768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20">
                <a:solidFill>
                  <a:srgbClr val="1A6B3C"/>
                </a:solidFill>
                <a:latin typeface="Avenir Next"/>
              </a:rPr>
              <a:t>WHO WE SERVE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743200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Padi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58784" y="2743200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Chilli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85248" y="2743200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Tomato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328416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Banana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58784" y="3328416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Durian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85248" y="3328416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Cocoa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913632"/>
            <a:ext cx="1298448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B3C"/>
                </a:solidFill>
                <a:latin typeface="Avenir Next"/>
              </a:rPr>
              <a:t>Oil palm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005072"/>
            <a:ext cx="429768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… smallholder farmers of these crops,</a:t>
            </a:r>
          </a:p>
          <a:p>
            <a:pPr>
              <a:lnSpc>
                <a:spcPct val="112000"/>
              </a:lnSpc>
            </a:pPr>
            <a:r>
              <a:rPr sz="1300" b="0">
                <a:solidFill>
                  <a:srgbClr val="1C231F"/>
                </a:solidFill>
                <a:latin typeface="Helvetica Neue"/>
              </a:rPr>
              <a:t>plus </a:t>
            </a:r>
            <a:r>
              <a:rPr sz="1300" b="1">
                <a:solidFill>
                  <a:srgbClr val="1A6B3C"/>
                </a:solidFill>
                <a:latin typeface="Helvetica Neue"/>
              </a:rPr>
              <a:t>agricultural extension officers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 who advise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OUR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Enable trustworthy knowledge exchange between farmers — so quality, and the local economy, 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1094415" cy="1005840"/>
          </a:xfrm>
          <a:prstGeom prst="roundRect">
            <a:avLst>
              <a:gd name="adj" fmla="val 5500"/>
            </a:avLst>
          </a:prstGeom>
          <a:solidFill>
            <a:srgbClr val="1A6B3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venir Next"/>
              </a:rPr>
              <a:t>Trustworthy knowledge exchange between farmers  →  better crop quality  →  stronger local economy &amp; agri-exports.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39"/>
            <a:ext cx="3515258" cy="2148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9554" y="3292754"/>
            <a:ext cx="3513429" cy="10058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602735"/>
            <a:ext cx="3094634" cy="17373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A6B3C"/>
                </a:solidFill>
                <a:latin typeface="Avenir Next"/>
              </a:rPr>
              <a:t>Trustworthy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Every claim is labelled verified vs estimate; a fail-closed review gate means REJECT never ships to a farmer.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3291839"/>
            <a:ext cx="3515258" cy="2148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9132" y="3292754"/>
            <a:ext cx="3513429" cy="10058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7674" y="3602735"/>
            <a:ext cx="3094634" cy="17373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A6B3C"/>
                </a:solidFill>
                <a:latin typeface="Avenir Next"/>
              </a:rPr>
              <a:t>Exchange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Farmers and extension officers share what works — an AI knowledge base plus a human Q&amp;A community, both grounded.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3291839"/>
            <a:ext cx="3515258" cy="2148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8711" y="3292754"/>
            <a:ext cx="3513429" cy="10058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7252" y="3602735"/>
            <a:ext cx="3094634" cy="17373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A6B3C"/>
                </a:solidFill>
                <a:latin typeface="Avenir Next"/>
              </a:rPr>
              <a:t>Local economy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Higher, safer quality lifts rural income and export earnings — the Local Economy track, made concrete.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HOW WE CAPTURE KNOWLEDGE — THE RESEARCH &amp; SCRAPER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Automated agents turn authoritative MARDI sources into structured, machine-readable disease entries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15258" cy="1965960"/>
          </a:xfrm>
          <a:prstGeom prst="roundRect">
            <a:avLst>
              <a:gd name="adj" fmla="val 6000"/>
            </a:avLst>
          </a:prstGeom>
          <a:solidFill>
            <a:srgbClr val="E9F1E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359152"/>
            <a:ext cx="3112922" cy="1600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1  MARDI scraper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Crawls MARDI bulletin pages and downloads source PDFs of crop-disease guidance.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1018" y="27934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2103120"/>
            <a:ext cx="3515258" cy="1965960"/>
          </a:xfrm>
          <a:prstGeom prst="roundRect">
            <a:avLst>
              <a:gd name="adj" fmla="val 6000"/>
            </a:avLst>
          </a:prstGeom>
          <a:solidFill>
            <a:srgbClr val="E9F1E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9386" y="2359152"/>
            <a:ext cx="3112922" cy="1600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2  Seed generator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Structures findings into consistent YAML disease entries (crop, pathogen, treatments).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0596" y="27934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2103120"/>
            <a:ext cx="3515258" cy="1965960"/>
          </a:xfrm>
          <a:prstGeom prst="roundRect">
            <a:avLst>
              <a:gd name="adj" fmla="val 6000"/>
            </a:avLst>
          </a:prstGeom>
          <a:solidFill>
            <a:srgbClr val="E9F1E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8964" y="2359152"/>
            <a:ext cx="3112922" cy="1600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3  PDF extractor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Parses downloaded PDFs → extracts text → fills structured fields per entry.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19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BF3DD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00" b="1">
                <a:solidFill>
                  <a:srgbClr val="1A6B3C"/>
                </a:solidFill>
                <a:latin typeface="Helvetica Neue"/>
              </a:rPr>
              <a:t>Vendor-neutral engine:  </a:t>
            </a:r>
            <a:r>
              <a:rPr sz="1350" b="0">
                <a:solidFill>
                  <a:srgbClr val="1C231F"/>
                </a:solidFill>
                <a:latin typeface="Helvetica Neue"/>
              </a:rPr>
              <a:t>generation and review agents run via an </a:t>
            </a:r>
            <a:r>
              <a:rPr sz="1350" b="1">
                <a:solidFill>
                  <a:srgbClr val="1A6B3C"/>
                </a:solidFill>
                <a:latin typeface="Helvetica Neue"/>
              </a:rPr>
              <a:t>agentic coding CLI + a swappable LLM provider</a:t>
            </a:r>
            <a:r>
              <a:rPr sz="1350" b="0">
                <a:solidFill>
                  <a:srgbClr val="1C231F"/>
                </a:solidFill>
                <a:latin typeface="Helvetica Neue"/>
              </a:rPr>
              <a:t> — no vendor lock-in.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6B63"/>
                </a:solidFill>
                <a:latin typeface="Helvetica Neue"/>
              </a:rPr>
              <a:t>Optional DOA / MYMRL registry crawlers extend coverage when authoritative data is available.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THE REVIEW GATE — OUR QUALITY GUARANTEE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Every claim passes a fail-closed review gate — REJECT never ships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410047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" y="1966874"/>
            <a:ext cx="5408218" cy="45720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39112"/>
            <a:ext cx="5044287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40">
                <a:solidFill>
                  <a:srgbClr val="FFFFFF"/>
                </a:solidFill>
                <a:latin typeface="Avenir Next"/>
              </a:rPr>
              <a:t>LAYER 1 · COMPLIANCE  (deterministic, fail-closed)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87752"/>
            <a:ext cx="5007711" cy="20116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REJECT: </a:t>
            </a:r>
            <a:r>
              <a:rPr sz="1400">
                <a:solidFill>
                  <a:srgbClr val="1C231F"/>
                </a:solidFill>
                <a:latin typeface="Helvetica Neue"/>
              </a:rPr>
              <a:t>banned-pesticide denylist → hard block.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FLAG: </a:t>
            </a:r>
            <a:r>
              <a:rPr sz="1400">
                <a:solidFill>
                  <a:srgbClr val="1C231F"/>
                </a:solidFill>
                <a:latin typeface="Helvetica Neue"/>
              </a:rPr>
              <a:t>restricted use, missing PHI, or missing fields.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5F6B63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Roadmap: </a:t>
            </a:r>
            <a:r>
              <a:rPr sz="1400">
                <a:solidFill>
                  <a:srgbClr val="1C231F"/>
                </a:solidFill>
                <a:latin typeface="Helvetica Neue"/>
              </a:rPr>
              <a:t>registration allowlist check is built but disabled until authoritative DOA data is supplied.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65960"/>
            <a:ext cx="5410047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922" y="1966874"/>
            <a:ext cx="5408218" cy="457200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2039112"/>
            <a:ext cx="5044287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40">
                <a:solidFill>
                  <a:srgbClr val="FFFFFF"/>
                </a:solidFill>
                <a:latin typeface="Avenir Next"/>
              </a:rPr>
              <a:t>AGRONOMIC REVIEW AGENT  (LLM reviewer)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2587752"/>
            <a:ext cx="5007711" cy="20116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 b="1">
                <a:solidFill>
                  <a:srgbClr val="2D9E5F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Verdict: </a:t>
            </a:r>
            <a:r>
              <a:rPr sz="1400">
                <a:solidFill>
                  <a:srgbClr val="1C231F"/>
                </a:solidFill>
                <a:latin typeface="Helvetica Neue"/>
              </a:rPr>
              <a:t>grades each entry PASS / FLAG / REJECT.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 b="1">
                <a:solidFill>
                  <a:srgbClr val="2D9E5F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Honest framing: </a:t>
            </a:r>
            <a:r>
              <a:rPr sz="1400">
                <a:solidFill>
                  <a:srgbClr val="1C231F"/>
                </a:solidFill>
                <a:latin typeface="Helvetica Neue"/>
              </a:rPr>
              <a:t>a competent internal fact-checker — not yet a source-verified safety gate.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2D9E5F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Oversight: </a:t>
            </a:r>
            <a:r>
              <a:rPr sz="1400">
                <a:solidFill>
                  <a:srgbClr val="1C231F"/>
                </a:solidFill>
                <a:latin typeface="Helvetica Neue"/>
              </a:rPr>
              <a:t>verdicts feed the admin Review-Queue UI for human oversight.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11094415" cy="960120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</a:rPr>
              <a:t/>
            </a:r>
            <a:r>
              <a:rPr sz="1500" b="0">
                <a:solidFill>
                  <a:srgbClr val="FFFFFF"/>
                </a:solidFill>
                <a:latin typeface="Avenir Next"/>
              </a:rPr>
              <a:t>Every claim is marked </a:t>
            </a:r>
            <a:r>
              <a:rPr sz="1500" b="1">
                <a:solidFill>
                  <a:srgbClr val="E8B84B"/>
                </a:solidFill>
                <a:latin typeface="Avenir Next"/>
              </a:rPr>
              <a:t>verified vs estimate</a:t>
            </a:r>
            <a:r>
              <a:rPr sz="1500" b="0">
                <a:solidFill>
                  <a:srgbClr val="FFFFFF"/>
                </a:solidFill>
                <a:latin typeface="Avenir Next"/>
              </a:rPr>
              <a:t>   ·   REJECT entries are never embedded and never reach a farmer.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ARCHITECTURE &amp; END-TO-END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Source → review → publish → serve: search works even with zero LLM or API keys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3723" y="3118103"/>
            <a:ext cx="9124248" cy="2743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970166" cy="150876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Sources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MARDI bulletins &amp; PDFs
(+ optional DOA / MYMRL)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4214" y="283921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9702" y="2377440"/>
            <a:ext cx="1970166" cy="150876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Capture agents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Scrape · Seed · Extract
→ YAML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276" y="283921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0764" y="2377440"/>
            <a:ext cx="1970166" cy="1508760"/>
          </a:xfrm>
          <a:prstGeom prst="roundRect">
            <a:avLst>
              <a:gd name="adj" fmla="val 9000"/>
            </a:avLst>
          </a:prstGeom>
          <a:solidFill>
            <a:srgbClr val="FBF3DD"/>
          </a:solidFill>
          <a:ln w="19050">
            <a:solidFill>
              <a:srgbClr val="E8B84B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Review gate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Compliance (fail-closed)
+ agronomic review
REJECT blocked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6338" y="283921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1826" y="2377440"/>
            <a:ext cx="1970166" cy="150876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ChromaDB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2 collections
local all-MiniLM
free, no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7400" y="283921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72888" y="2377440"/>
            <a:ext cx="1970166" cy="1508760"/>
          </a:xfrm>
          <a:prstGeom prst="roundRect">
            <a:avLst>
              <a:gd name="adj" fmla="val 9000"/>
            </a:avLst>
          </a:prstGeom>
          <a:solidFill>
            <a:srgbClr val="DEECE3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API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/query · /ask
/diagnose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350" b="1">
                <a:solidFill>
                  <a:srgbClr val="1A6B3C"/>
                </a:solidFill>
                <a:latin typeface="Helvetica Neue"/>
              </a:rPr>
              <a:t>Stack:  </a:t>
            </a:r>
            <a:r>
              <a:rPr sz="1350" b="0">
                <a:solidFill>
                  <a:srgbClr val="1C231F"/>
                </a:solidFill>
                <a:latin typeface="Helvetica Neue"/>
              </a:rPr>
              <a:t>FastAPI  ·  React + Vite  ·  agentic coding CLI + swappable LLM provider  ·  ChromaDB (local embeddings).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9160"/>
            <a:ext cx="11094415" cy="868680"/>
          </a:xfrm>
          <a:prstGeom prst="roundRect">
            <a:avLst>
              <a:gd name="adj" fmla="val 5000"/>
            </a:avLst>
          </a:prstGeom>
          <a:solidFill>
            <a:srgbClr val="DEECE3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00" b="1">
                <a:solidFill>
                  <a:srgbClr val="1A6B3C"/>
                </a:solidFill>
                <a:latin typeface="Helvetica Neue"/>
              </a:rPr>
              <a:t>Graceful degradation:  </a:t>
            </a:r>
            <a:r>
              <a:rPr sz="1350" b="0">
                <a:solidFill>
                  <a:srgbClr val="1C231F"/>
                </a:solidFill>
                <a:latin typeface="Helvetica Neue"/>
              </a:rPr>
              <a:t>vector search runs with no LLM and no API keys — the core product is always free, offline-capable, and can't be broken by a model outage.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PRODUCT — THE FARMER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Photo + text diagnosis grounded in verified sources — the AI describes, the KB diagnoses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15258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" y="2104034"/>
            <a:ext cx="3513429" cy="50292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03703"/>
            <a:ext cx="3423818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50">
                <a:solidFill>
                  <a:srgbClr val="FFFFFF"/>
                </a:solidFill>
                <a:latin typeface="Avenir Next"/>
              </a:rPr>
              <a:t>Vision DESCRIBES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16352"/>
            <a:ext cx="3112922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/diagnose reads a photo, describes symptoms and guesses the crop — it never names the disease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1018" y="293065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103120"/>
            <a:ext cx="3515258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9132" y="2104034"/>
            <a:ext cx="3513429" cy="50292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3938" y="2203703"/>
            <a:ext cx="3423818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50">
                <a:solidFill>
                  <a:srgbClr val="FFFFFF"/>
                </a:solidFill>
                <a:latin typeface="Avenir Next"/>
              </a:rPr>
              <a:t>KB DIAGNOSES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2816352"/>
            <a:ext cx="3112922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Verified knowledge-base retrieval matches symptoms to reviewed entries — the actual diagnosis is grounded.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0596" y="293065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03120"/>
            <a:ext cx="3515258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711" y="2104034"/>
            <a:ext cx="3513429" cy="50292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3516" y="2203703"/>
            <a:ext cx="3423818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50">
                <a:solidFill>
                  <a:srgbClr val="FFFFFF"/>
                </a:solidFill>
                <a:latin typeface="Avenir Next"/>
              </a:rPr>
              <a:t>LLM SUMMARISES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964" y="2816352"/>
            <a:ext cx="3112922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/ask summarises only the retrieved source cards (“ONLY SOURCES”) — it cannot invent treatments.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36008"/>
            <a:ext cx="11094415" cy="932688"/>
          </a:xfrm>
          <a:prstGeom prst="roundRect">
            <a:avLst>
              <a:gd name="adj" fmla="val 5000"/>
            </a:avLst>
          </a:prstGeom>
          <a:solidFill>
            <a:srgbClr val="FBF3DD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Honest by construction:  </a:t>
            </a:r>
            <a:r>
              <a:rPr sz="1400" b="0">
                <a:solidFill>
                  <a:srgbClr val="1C231F"/>
                </a:solidFill>
                <a:latin typeface="Helvetica Neue"/>
              </a:rPr>
              <a:t>because the AI can only surface reviewed, verified sources, it cannot hallucinate an unsafe dose.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COMMUNITY — THE KNOWLEDGE-EXCHANGE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Farmers &amp; extension officers answer each other — and earn Agri Points for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486400" cy="3520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67128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A6B3C"/>
                </a:solidFill>
                <a:latin typeface="Avenir Next"/>
              </a:rPr>
              <a:t>HOW REPUTATION IS EARNED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2432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Post an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24328"/>
            <a:ext cx="1600200" cy="54864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D9E5F"/>
                </a:solidFill>
                <a:latin typeface="Avenir Next"/>
              </a:rPr>
              <a:t>+5 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8269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Answer gets accepted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282696"/>
            <a:ext cx="1600200" cy="54864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6B3C"/>
                </a:solidFill>
                <a:latin typeface="Avenir Next"/>
              </a:rPr>
              <a:t>+15 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941063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Ask a question / upvotes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941063"/>
            <a:ext cx="1600200" cy="54864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F6B63"/>
                </a:solidFill>
                <a:latin typeface="Avenir Next"/>
              </a:rPr>
              <a:t>0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6B3C"/>
                </a:solidFill>
                <a:latin typeface="Avenir Next"/>
              </a:rPr>
              <a:t>5 reputation levels: Seedling → Community Champion.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965960"/>
            <a:ext cx="5239512" cy="3520440"/>
          </a:xfrm>
          <a:prstGeom prst="roundRect">
            <a:avLst>
              <a:gd name="adj" fmla="val 5500"/>
            </a:avLst>
          </a:prstGeom>
          <a:solidFill>
            <a:srgbClr val="DEECE3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194560"/>
            <a:ext cx="4800600" cy="3108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 spc="120">
                <a:solidFill>
                  <a:srgbClr val="1A6B3C"/>
                </a:solidFill>
                <a:latin typeface="Avenir Next"/>
              </a:rPr>
              <a:t>THE HUMAN LAYER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Peer exchange surfaces </a:t>
            </a:r>
            <a:r>
              <a:rPr sz="1400">
                <a:solidFill>
                  <a:srgbClr val="1C231F"/>
                </a:solidFill>
                <a:latin typeface="Helvetica Neue"/>
              </a:rPr>
              <a:t>local, practical know-how the AI knowledge base can't capture alone.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Contributors </a:t>
            </a:r>
            <a:r>
              <a:rPr sz="1400">
                <a:solidFill>
                  <a:srgbClr val="1C231F"/>
                </a:solidFill>
                <a:latin typeface="Helvetica Neue"/>
              </a:rPr>
              <a:t>answer well, build reputation, and gain visibility across the platform.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400" b="1">
                <a:solidFill>
                  <a:srgbClr val="E8B84B"/>
                </a:solidFill>
                <a:latin typeface="Avenir Next"/>
              </a:rPr>
              <a:t>—  </a:t>
            </a:r>
            <a:r>
              <a:rPr sz="1400" b="1">
                <a:solidFill>
                  <a:srgbClr val="1A6B3C"/>
                </a:solidFill>
                <a:latin typeface="Avenir Next"/>
              </a:rPr>
              <a:t>Earned </a:t>
            </a:r>
            <a:r>
              <a:rPr sz="1400">
                <a:solidFill>
                  <a:srgbClr val="1C231F"/>
                </a:solidFill>
                <a:latin typeface="Helvetica Neue"/>
              </a:rPr>
              <a:t>points become spendable value — the bridge into the marketplace (next).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F6B63"/>
                </a:solidFill>
                <a:latin typeface="Helvetica Neue"/>
              </a:rPr>
              <a:t>Seeded questions &amp; ledger lines are demo data; the earn mechanics are fully real (localStorage wallet).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MARKETPLACE + THE ACQUISITION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Knowledge exchange acquires, vouchers retain, the marketplace monetizes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8353" y="2958084"/>
            <a:ext cx="9094988" cy="2743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999427" cy="137160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Answer Q&amp;A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+5 pts · accepted +15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5187" y="26791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2387" y="2286000"/>
            <a:ext cx="1999427" cy="137160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Earn points
+ reputation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5 levels ·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8934" y="26791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6134" y="2286000"/>
            <a:ext cx="1999427" cy="1371600"/>
          </a:xfrm>
          <a:prstGeom prst="roundRect">
            <a:avLst>
              <a:gd name="adj" fmla="val 9000"/>
            </a:avLst>
          </a:prstGeom>
          <a:solidFill>
            <a:srgbClr val="FBF3DD"/>
          </a:solidFill>
          <a:ln w="19050">
            <a:solidFill>
              <a:srgbClr val="E8B84B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Redeem vouchers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RM1/5/10 =
100/500/1000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2681" y="26791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9881" y="2286000"/>
            <a:ext cx="1999427" cy="137160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Spend in
Marketplace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voucher = checkout
discount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6428" y="2679192"/>
            <a:ext cx="640080" cy="58521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B3C"/>
                </a:solidFill>
                <a:latin typeface="Avenir Nex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3628" y="2286000"/>
            <a:ext cx="1999427" cy="1371600"/>
          </a:xfrm>
          <a:prstGeom prst="roundRect">
            <a:avLst>
              <a:gd name="adj" fmla="val 9000"/>
            </a:avLst>
          </a:prstGeom>
          <a:solidFill>
            <a:srgbClr val="E9F1EC"/>
          </a:solidFill>
          <a:ln w="19050">
            <a:solidFill>
              <a:srgbClr val="1A6B3C"/>
            </a:solidFill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6B3C"/>
                </a:solidFill>
                <a:latin typeface="Avenir Next"/>
              </a:rPr>
              <a:t>Sellers sponsor
shipping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31F"/>
                </a:solidFill>
                <a:latin typeface="Helvetica Neue"/>
              </a:rPr>
              <a:t>40 pts / slot →
more buyers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14800"/>
            <a:ext cx="11094415" cy="566928"/>
          </a:xfrm>
          <a:prstGeom prst="roundRect">
            <a:avLst>
              <a:gd name="adj" fmla="val 10000"/>
            </a:avLst>
          </a:prstGeom>
          <a:solidFill>
            <a:srgbClr val="1A6B3C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venir Next"/>
              </a:rPr>
              <a:t>↺  Closed loop  —  vouchers are spendable ONLY in the Marketplace:  engagement → retention → local-economy monetization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11094415" cy="7315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1F"/>
                </a:solidFill>
                <a:latin typeface="Helvetica Neue"/>
              </a:rPr>
              <a:t>The knowledge exchange is the acquisition engine  ·  vouchers are retention  ·  the marketplace is monetization — all mechanics are real; sample listings are demo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WHY IT MATTERS —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Verified knowledge exchange → export-grade quality → rural income &amp; agri-exports 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410047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" y="2221991"/>
            <a:ext cx="100584" cy="1225295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185415"/>
            <a:ext cx="4907127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Serves the 2026 vision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Directly answers NAP 2.0 goals: raise quality &amp; productivity, grow agrofood exports, cut import dependence, empower smallholders.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965960"/>
            <a:ext cx="5410047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922" y="2221991"/>
            <a:ext cx="100584" cy="1225295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5615" y="2185415"/>
            <a:ext cx="4907127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Trust by alignment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Content is structured for DOA / MARDI alignment and labelled verified vs estimate — safe to act on in the field.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410047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9554" y="4233672"/>
            <a:ext cx="100584" cy="1225295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4197096"/>
            <a:ext cx="4907127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Scales without retraining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New verified entries are ingested and embedded locally — no model retraining, no API cost to grow coverage. The moat vs generic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977639"/>
            <a:ext cx="5410047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922" y="4233672"/>
            <a:ext cx="100584" cy="1225295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5615" y="4197096"/>
            <a:ext cx="4907127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A6B3C"/>
                </a:solidFill>
                <a:latin typeface="Avenir Next"/>
              </a:rPr>
              <a:t>Local Economy, made real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31F"/>
                </a:solidFill>
                <a:latin typeface="Helvetica Neue"/>
              </a:rPr>
              <a:t>Higher, safer quality lifts rural livelihoods and export earnings — the track's goal, delivered on the ground.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E8B84B"/>
                </a:solidFill>
                <a:latin typeface="Avenir Next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94944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94415" cy="9601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6B3C"/>
                </a:solidFill>
                <a:latin typeface="Avenir Next"/>
              </a:rPr>
              <a:t>From a verified fact-checker to a source-verified safety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1094415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9554" y="1966874"/>
            <a:ext cx="713232" cy="711403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84B"/>
                </a:solidFill>
                <a:latin typeface="Avenir N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11679"/>
            <a:ext cx="9905695" cy="64008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Broaden coverage   —   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More crops and diseases beyond today's 8 crops / 23 entries.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11094415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9554" y="2789834"/>
            <a:ext cx="713232" cy="711403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84B"/>
                </a:solidFill>
                <a:latin typeface="Avenir Nex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9905695" cy="64008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Authoritative allowlist   —   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Supply DOA registration data to enable the built-but-disabled Layer-1 allowlist check.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79"/>
            <a:ext cx="11094415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9554" y="3612794"/>
            <a:ext cx="713232" cy="711403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84B"/>
                </a:solidFill>
                <a:latin typeface="Avenir Nex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657599"/>
            <a:ext cx="9905695" cy="64008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Complete Layer-2 grounding   —   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Finish source-verified grounded review — today a paddy-only prototype, blocked by a thin MARDI corpus (~6% paddy).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1094415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9554" y="4435754"/>
            <a:ext cx="713232" cy="711403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84B"/>
                </a:solidFill>
                <a:latin typeface="Avenir Nex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480559"/>
            <a:ext cx="9905695" cy="64008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Live DOA integration   —   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Direct integration with authoritative registries for real-time compliance.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94415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77724" dist="32004" dir="5400000" rotWithShape="0">
              <a:srgbClr val="1C231F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9554" y="5258714"/>
            <a:ext cx="713232" cy="711403"/>
          </a:xfrm>
          <a:prstGeom prst="roundRect">
            <a:avLst>
              <a:gd name="adj" fmla="val 5000"/>
            </a:avLst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84B"/>
                </a:solidFill>
                <a:latin typeface="Avenir N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03520"/>
            <a:ext cx="9905695" cy="64008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C231F"/>
                </a:solidFill>
                <a:latin typeface="Helvetica Neue"/>
              </a:rPr>
              <a:t/>
            </a:r>
            <a:r>
              <a:rPr sz="1450" b="1">
                <a:solidFill>
                  <a:srgbClr val="1A6B3C"/>
                </a:solidFill>
                <a:latin typeface="Helvetica Neue"/>
              </a:rPr>
              <a:t>Mobile / offline-first   —   </a:t>
            </a:r>
            <a:r>
              <a:rPr sz="1300" b="0">
                <a:solidFill>
                  <a:srgbClr val="1C231F"/>
                </a:solidFill>
                <a:latin typeface="Helvetica Neue"/>
              </a:rPr>
              <a:t>Field-ready access for farmers with limited connectivity.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37376"/>
            <a:ext cx="11094415" cy="10972"/>
          </a:xfrm>
          <a:prstGeom prst="rect">
            <a:avLst/>
          </a:prstGeom>
          <a:solidFill>
            <a:srgbClr val="CF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83096"/>
            <a:ext cx="5486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AgriSchema-MY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83096"/>
            <a:ext cx="128016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5F6B63"/>
                </a:solidFill>
                <a:latin typeface="Avenir Next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95360" y="109728"/>
            <a:ext cx="3596335" cy="6748272"/>
          </a:xfrm>
          <a:prstGeom prst="rect">
            <a:avLst/>
          </a:prstGeom>
          <a:solidFill>
            <a:srgbClr val="2D9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6840" y="1463040"/>
            <a:ext cx="2926080" cy="10972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venir Next"/>
              </a:rPr>
              <a:t>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E0D5"/>
                </a:solidFill>
                <a:latin typeface="Helvetica Neue"/>
              </a:rPr>
              <a:t>disease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2697480"/>
            <a:ext cx="2926080" cy="10972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venir Next"/>
              </a:rPr>
              <a:t>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E0D5"/>
                </a:solidFill>
                <a:latin typeface="Helvetica Neue"/>
              </a:rPr>
              <a:t>crops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3931920"/>
            <a:ext cx="2926080" cy="10972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venir Next"/>
              </a:rPr>
              <a:t>654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E0D5"/>
                </a:solidFill>
                <a:latin typeface="Helvetica Neue"/>
              </a:rPr>
              <a:t>MARDI passages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758952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60">
                <a:solidFill>
                  <a:srgbClr val="E8B84B"/>
                </a:solidFill>
                <a:latin typeface="Avenir Next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7589520" cy="18288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venir Next"/>
              </a:rPr>
              <a:t>Trustworthy knowledge exchange 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E8B84B"/>
                </a:solidFill>
                <a:latin typeface="Avenir Next"/>
              </a:rPr>
              <a:t>export-grade quality + a stronger local economy.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758952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6EFE9"/>
                </a:solidFill>
                <a:latin typeface="Helvetica Neue"/>
              </a:rPr>
              <a:t>Verified crop-disease knowledge for Malaysian smallholders and extension officers. Try /ask, /diagnose, the community and the marketplace.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92040"/>
            <a:ext cx="502920" cy="3200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20640"/>
            <a:ext cx="7589520" cy="11887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  <a:latin typeface="Avenir Next"/>
              </a:rPr>
              <a:t>Tan Kuan Yu  ·  Lee Hui Ying  ·  Tan Chi Kien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60">
                <a:solidFill>
                  <a:srgbClr val="CFE0D5"/>
                </a:solidFill>
                <a:latin typeface="Helvetica Neue"/>
              </a:rPr>
              <a:t>Tourism, Culture &amp; Local Economy  — 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